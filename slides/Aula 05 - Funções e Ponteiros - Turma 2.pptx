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aleway ExtraBold"/>
      <p:bold r:id="rId29"/>
      <p:boldItalic r:id="rId30"/>
    </p:embeddedFont>
    <p:embeddedFont>
      <p:font typeface="Raleway Light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Extra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Light-regular.fntdata"/><Relationship Id="rId30" Type="http://schemas.openxmlformats.org/officeDocument/2006/relationships/font" Target="fonts/RalewayExtraBold-boldItalic.fntdata"/><Relationship Id="rId11" Type="http://schemas.openxmlformats.org/officeDocument/2006/relationships/slide" Target="slides/slide7.xml"/><Relationship Id="rId33" Type="http://schemas.openxmlformats.org/officeDocument/2006/relationships/font" Target="fonts/RalewayLight-italic.fntdata"/><Relationship Id="rId10" Type="http://schemas.openxmlformats.org/officeDocument/2006/relationships/slide" Target="slides/slide6.xml"/><Relationship Id="rId32" Type="http://schemas.openxmlformats.org/officeDocument/2006/relationships/font" Target="fonts/RalewayLight-bold.fntdata"/><Relationship Id="rId13" Type="http://schemas.openxmlformats.org/officeDocument/2006/relationships/slide" Target="slides/slide9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8.xml"/><Relationship Id="rId34" Type="http://schemas.openxmlformats.org/officeDocument/2006/relationships/font" Target="fonts/Raleway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f68faef8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f68faef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f68faef89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f68faef8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f68faef89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f68faef8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f68faef89_0_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f68faef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430be853e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430be85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6ac8f40ed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6ac8f40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430be853e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430be853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430be853e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430be853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430be853e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430be853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30be853e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430be853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5c7d12c53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5c7d12c5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430be853e_0_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430be853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5c7d12c5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5c7d12c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5c7d12c53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5c7d12c5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5c7d12c53_0_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45c7d12c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5c7d12c53_0_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5c7d12c5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5c7d12c53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5c7d12c5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FFB6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8863" y="379862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FFB6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rgbClr val="FFB6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1pPr>
            <a:lvl2pPr indent="-419100" lvl="1" marL="9144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2pPr>
            <a:lvl3pPr indent="-419100" lvl="2" marL="13716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3pPr>
            <a:lvl4pPr indent="-419100" lvl="3" marL="18288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4pPr>
            <a:lvl5pPr indent="-419100" lvl="4" marL="22860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5pPr>
            <a:lvl6pPr indent="-419100" lvl="5" marL="2743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6pPr>
            <a:lvl7pPr indent="-419100" lvl="6" marL="32004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7pPr>
            <a:lvl8pPr indent="-419100" lvl="7" marL="36576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8pPr>
            <a:lvl9pPr indent="-419100" lvl="8" marL="41148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1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B600"/>
                </a:solidFill>
              </a:defRPr>
            </a:lvl1pPr>
            <a:lvl2pPr lvl="1">
              <a:buNone/>
              <a:defRPr>
                <a:solidFill>
                  <a:srgbClr val="FFB600"/>
                </a:solidFill>
              </a:defRPr>
            </a:lvl2pPr>
            <a:lvl3pPr lvl="2">
              <a:buNone/>
              <a:defRPr>
                <a:solidFill>
                  <a:srgbClr val="FFB600"/>
                </a:solidFill>
              </a:defRPr>
            </a:lvl3pPr>
            <a:lvl4pPr lvl="3">
              <a:buNone/>
              <a:defRPr>
                <a:solidFill>
                  <a:srgbClr val="FFB600"/>
                </a:solidFill>
              </a:defRPr>
            </a:lvl4pPr>
            <a:lvl5pPr lvl="4">
              <a:buNone/>
              <a:defRPr>
                <a:solidFill>
                  <a:srgbClr val="FFB600"/>
                </a:solidFill>
              </a:defRPr>
            </a:lvl5pPr>
            <a:lvl6pPr lvl="5">
              <a:buNone/>
              <a:defRPr>
                <a:solidFill>
                  <a:srgbClr val="FFB600"/>
                </a:solidFill>
              </a:defRPr>
            </a:lvl6pPr>
            <a:lvl7pPr lvl="6">
              <a:buNone/>
              <a:defRPr>
                <a:solidFill>
                  <a:srgbClr val="FFB600"/>
                </a:solidFill>
              </a:defRPr>
            </a:lvl7pPr>
            <a:lvl8pPr lvl="7">
              <a:buNone/>
              <a:defRPr>
                <a:solidFill>
                  <a:srgbClr val="FFB600"/>
                </a:solidFill>
              </a:defRPr>
            </a:lvl8pPr>
            <a:lvl9pPr lvl="8">
              <a:buNone/>
              <a:defRPr>
                <a:solidFill>
                  <a:srgbClr val="FFB6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ed">
  <p:cSld name="BLANK_1">
    <p:bg>
      <p:bgPr>
        <a:solidFill>
          <a:srgbClr val="FFB6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Minicurso de C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Aula 05: Funções e Ponteiros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ctrTitle"/>
          </p:nvPr>
        </p:nvSpPr>
        <p:spPr>
          <a:xfrm>
            <a:off x="685800" y="32229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Funções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type="title"/>
          </p:nvPr>
        </p:nvSpPr>
        <p:spPr>
          <a:xfrm>
            <a:off x="1381075" y="1993550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 que é uma função?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82" name="Google Shape;82;p1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83" name="Google Shape;83;p1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975" y="1440175"/>
            <a:ext cx="4342325" cy="31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400" y="661301"/>
            <a:ext cx="3682375" cy="3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5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97" name="Google Shape;97;p15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922000" y="676000"/>
            <a:ext cx="68661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Uma função é uma </a:t>
            </a:r>
            <a:r>
              <a:rPr b="1"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subrotina </a:t>
            </a: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que é definida e pode ser chamada a qualquer momento no código, podendo receber </a:t>
            </a:r>
            <a:r>
              <a:rPr b="1"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parâmetros </a:t>
            </a: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b="1"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retornar </a:t>
            </a: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ou não variáveis.</a:t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{</a:t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     instruções;</a:t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     retorno_da_função;</a:t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}</a:t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09" name="Google Shape;109;p16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543450" y="65622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Tipos de funções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22" name="Google Shape;122;p17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1253550" y="1910700"/>
            <a:ext cx="6866100" cy="26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Funções que retornam valores: </a:t>
            </a:r>
            <a:endParaRPr sz="2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1" lang="en" sz="24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nt(), float(), double(), char()</a:t>
            </a:r>
            <a:endParaRPr sz="24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Função que não retorna valor: </a:t>
            </a:r>
            <a:r>
              <a:rPr b="1" lang="en" sz="24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void()</a:t>
            </a:r>
            <a:endParaRPr b="1" sz="2400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Função principal: </a:t>
            </a:r>
            <a:r>
              <a:rPr b="1" lang="en" sz="24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int main()</a:t>
            </a:r>
            <a:endParaRPr b="1" sz="2400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543450" y="1611450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de aplicação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36" name="Google Shape;136;p1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8">
            <a:hlinkClick r:id="rId3"/>
          </p:cNvPr>
          <p:cNvSpPr txBox="1"/>
          <p:nvPr/>
        </p:nvSpPr>
        <p:spPr>
          <a:xfrm>
            <a:off x="3234750" y="2868950"/>
            <a:ext cx="2674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Ponteiros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0"/>
          <p:cNvSpPr txBox="1"/>
          <p:nvPr>
            <p:ph type="title"/>
          </p:nvPr>
        </p:nvSpPr>
        <p:spPr>
          <a:xfrm>
            <a:off x="1381075" y="1993550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 que são ponteiros?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152" name="Google Shape;152;p20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53" name="Google Shape;153;p20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4" name="Google Shape;164;p21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65" name="Google Shape;165;p21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0" name="Google Shape;17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950" y="855075"/>
            <a:ext cx="3433351" cy="343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720150" y="914525"/>
            <a:ext cx="73995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Raleway"/>
              <a:buChar char="●"/>
            </a:pPr>
            <a:r>
              <a:rPr b="1" lang="en" sz="24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Ponteiros</a:t>
            </a:r>
            <a:r>
              <a:rPr lang="en" sz="24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 são variáveis que armazenam o </a:t>
            </a:r>
            <a:r>
              <a:rPr b="1" lang="en" sz="24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endereço de memória</a:t>
            </a:r>
            <a:r>
              <a:rPr lang="en" sz="24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 de outras variáveis;</a:t>
            </a:r>
            <a:endParaRPr sz="24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Raleway"/>
              <a:buChar char="●"/>
            </a:pPr>
            <a:r>
              <a:rPr lang="en" sz="24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Dizemos que um ponteiro “aponta” para uma varíável quando contém o endereço da mesma;</a:t>
            </a:r>
            <a:endParaRPr sz="24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Raleway"/>
              <a:buChar char="●"/>
            </a:pPr>
            <a:r>
              <a:rPr lang="en" sz="24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Os ponteiros podem apontar para qualquer tipo de variável. Portanto, temos ponteiros para int, float, double, etc;</a:t>
            </a:r>
            <a:endParaRPr sz="24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7" name="Google Shape;177;p22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78" name="Google Shape;178;p22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3"/>
          <p:cNvSpPr txBox="1"/>
          <p:nvPr>
            <p:ph type="title"/>
          </p:nvPr>
        </p:nvSpPr>
        <p:spPr>
          <a:xfrm>
            <a:off x="440575" y="58277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Por que</a:t>
            </a:r>
            <a:r>
              <a:rPr lang="en" sz="4400"/>
              <a:t> utilizar ponteiros?</a:t>
            </a:r>
            <a:endParaRPr sz="4400">
              <a:solidFill>
                <a:srgbClr val="FFB600"/>
              </a:solidFill>
            </a:endParaRPr>
          </a:p>
        </p:txBody>
      </p:sp>
      <p:grpSp>
        <p:nvGrpSpPr>
          <p:cNvPr id="190" name="Google Shape;190;p23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91" name="Google Shape;191;p23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3"/>
          <p:cNvSpPr txBox="1"/>
          <p:nvPr/>
        </p:nvSpPr>
        <p:spPr>
          <a:xfrm>
            <a:off x="666600" y="1440175"/>
            <a:ext cx="78108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Ponteiros são muito úteis quando uma variável tem que ser acessada em diferentes partes de um programa;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O código pode ter vários ponteiros espalhados por diversas partes do programa, “apontando” para a variável que contém o dado desejado;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Caso esse dado seja alterado, não há problema algum, pois todas as partes do programa tem um ponteiro que aponta para o endereço onde reside o dado atualizado.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4"/>
          <p:cNvSpPr txBox="1"/>
          <p:nvPr>
            <p:ph type="title"/>
          </p:nvPr>
        </p:nvSpPr>
        <p:spPr>
          <a:xfrm>
            <a:off x="440575" y="58277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Aplicações dos ponteiros</a:t>
            </a:r>
            <a:endParaRPr sz="4400">
              <a:solidFill>
                <a:srgbClr val="FFB600"/>
              </a:solidFill>
            </a:endParaRPr>
          </a:p>
        </p:txBody>
      </p:sp>
      <p:grpSp>
        <p:nvGrpSpPr>
          <p:cNvPr id="204" name="Google Shape;204;p2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05" name="Google Shape;205;p2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24"/>
          <p:cNvSpPr txBox="1"/>
          <p:nvPr/>
        </p:nvSpPr>
        <p:spPr>
          <a:xfrm>
            <a:off x="940500" y="1766425"/>
            <a:ext cx="7421400" cy="2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Passagem de parâmetros por referência;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Manipulação de arrays;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Alocação dinâmica de memória;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Referência para listas, pilhas, árvores e grafos.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5"/>
          <p:cNvSpPr txBox="1"/>
          <p:nvPr>
            <p:ph type="title"/>
          </p:nvPr>
        </p:nvSpPr>
        <p:spPr>
          <a:xfrm>
            <a:off x="440575" y="58277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Declarando ponteiros</a:t>
            </a:r>
            <a:endParaRPr sz="4400">
              <a:solidFill>
                <a:srgbClr val="FFB600"/>
              </a:solidFill>
            </a:endParaRPr>
          </a:p>
        </p:txBody>
      </p:sp>
      <p:grpSp>
        <p:nvGrpSpPr>
          <p:cNvPr id="218" name="Google Shape;218;p25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19" name="Google Shape;219;p25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" name="Google Shape;224;p25"/>
          <p:cNvSpPr txBox="1"/>
          <p:nvPr/>
        </p:nvSpPr>
        <p:spPr>
          <a:xfrm>
            <a:off x="861300" y="1440175"/>
            <a:ext cx="74214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tipo *nome_ponteiro;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tipo</a:t>
            </a: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: é o tipo de dado da variável cujo endereço o ponteiro armazena;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nome_ponteiro</a:t>
            </a: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: O nome da variável ponteiro.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O asterisco * neste tipo de declaração determina que a variável será um ponteiro;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Exemplo: </a:t>
            </a:r>
            <a:r>
              <a:rPr b="1" lang="en" sz="2800">
                <a:solidFill>
                  <a:srgbClr val="274E13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int *ptr;</a:t>
            </a:r>
            <a:endParaRPr b="1" sz="2800">
              <a:solidFill>
                <a:srgbClr val="274E13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26"/>
          <p:cNvSpPr txBox="1"/>
          <p:nvPr>
            <p:ph type="title"/>
          </p:nvPr>
        </p:nvSpPr>
        <p:spPr>
          <a:xfrm>
            <a:off x="543450" y="1626150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de aplicação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232" name="Google Shape;232;p26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33" name="Google Shape;233;p26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26">
            <a:hlinkClick r:id="rId3"/>
          </p:cNvPr>
          <p:cNvSpPr txBox="1"/>
          <p:nvPr/>
        </p:nvSpPr>
        <p:spPr>
          <a:xfrm>
            <a:off x="3234750" y="2868950"/>
            <a:ext cx="2674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7"/>
          <p:cNvSpPr txBox="1"/>
          <p:nvPr>
            <p:ph type="title"/>
          </p:nvPr>
        </p:nvSpPr>
        <p:spPr>
          <a:xfrm>
            <a:off x="440575" y="58277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Passagem de parâmetros</a:t>
            </a:r>
            <a:endParaRPr sz="4400">
              <a:solidFill>
                <a:srgbClr val="FFB600"/>
              </a:solidFill>
            </a:endParaRPr>
          </a:p>
        </p:txBody>
      </p:sp>
      <p:grpSp>
        <p:nvGrpSpPr>
          <p:cNvPr id="243" name="Google Shape;243;p27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44" name="Google Shape;244;p27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7"/>
          <p:cNvSpPr txBox="1"/>
          <p:nvPr/>
        </p:nvSpPr>
        <p:spPr>
          <a:xfrm>
            <a:off x="814350" y="1440175"/>
            <a:ext cx="7515300" cy="3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Passagem por valor</a:t>
            </a: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: permite usar dentro de uma função uma cópia do valor de uma variável, porém não permite alterar o valor da variável original (somente a cópia pode ser alterada);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Passagem por referência</a:t>
            </a: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: é passada para a função uma referência da variável, sendo possível alterar o conteúdo da variável original usando essa referência.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28"/>
          <p:cNvSpPr txBox="1"/>
          <p:nvPr>
            <p:ph type="title"/>
          </p:nvPr>
        </p:nvSpPr>
        <p:spPr>
          <a:xfrm>
            <a:off x="543450" y="1655550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de aplicação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257" name="Google Shape;257;p28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58" name="Google Shape;258;p2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" name="Google Shape;260;p28">
            <a:hlinkClick r:id="rId3"/>
          </p:cNvPr>
          <p:cNvSpPr txBox="1"/>
          <p:nvPr/>
        </p:nvSpPr>
        <p:spPr>
          <a:xfrm>
            <a:off x="3234750" y="2868950"/>
            <a:ext cx="2674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9"/>
          <p:cNvSpPr txBox="1"/>
          <p:nvPr>
            <p:ph type="title"/>
          </p:nvPr>
        </p:nvSpPr>
        <p:spPr>
          <a:xfrm>
            <a:off x="463025" y="46522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Array de ponteiros</a:t>
            </a:r>
            <a:endParaRPr sz="4400">
              <a:solidFill>
                <a:srgbClr val="FFB600"/>
              </a:solidFill>
            </a:endParaRPr>
          </a:p>
        </p:txBody>
      </p:sp>
      <p:grpSp>
        <p:nvGrpSpPr>
          <p:cNvPr id="268" name="Google Shape;268;p29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69" name="Google Shape;269;p29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4" name="Google Shape;2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427" y="2846625"/>
            <a:ext cx="5785148" cy="18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325" y="1322625"/>
            <a:ext cx="775335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686875" y="1440175"/>
            <a:ext cx="38982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30"/>
          <p:cNvSpPr txBox="1"/>
          <p:nvPr>
            <p:ph type="title"/>
          </p:nvPr>
        </p:nvSpPr>
        <p:spPr>
          <a:xfrm>
            <a:off x="543450" y="1729025"/>
            <a:ext cx="8057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de aplicação</a:t>
            </a:r>
            <a:endParaRPr sz="4800">
              <a:solidFill>
                <a:srgbClr val="FFB600"/>
              </a:solidFill>
            </a:endParaRPr>
          </a:p>
        </p:txBody>
      </p:sp>
      <p:grpSp>
        <p:nvGrpSpPr>
          <p:cNvPr id="283" name="Google Shape;283;p30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84" name="Google Shape;284;p30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30">
            <a:hlinkClick r:id="rId3"/>
          </p:cNvPr>
          <p:cNvSpPr txBox="1"/>
          <p:nvPr/>
        </p:nvSpPr>
        <p:spPr>
          <a:xfrm>
            <a:off x="3234750" y="2868950"/>
            <a:ext cx="2674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idx="4294967295" type="ctrTitle"/>
          </p:nvPr>
        </p:nvSpPr>
        <p:spPr>
          <a:xfrm>
            <a:off x="685800" y="1507150"/>
            <a:ext cx="6593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B600"/>
                </a:solidFill>
              </a:rPr>
              <a:t>Obrigado</a:t>
            </a:r>
            <a:r>
              <a:rPr lang="en" sz="9600">
                <a:solidFill>
                  <a:srgbClr val="FFB600"/>
                </a:solidFill>
              </a:rPr>
              <a:t>!</a:t>
            </a:r>
            <a:endParaRPr sz="9600">
              <a:solidFill>
                <a:srgbClr val="FFB600"/>
              </a:solidFill>
            </a:endParaRPr>
          </a:p>
        </p:txBody>
      </p:sp>
      <p:sp>
        <p:nvSpPr>
          <p:cNvPr id="293" name="Google Shape;293;p31"/>
          <p:cNvSpPr txBox="1"/>
          <p:nvPr>
            <p:ph idx="4294967295" type="subTitle"/>
          </p:nvPr>
        </p:nvSpPr>
        <p:spPr>
          <a:xfrm>
            <a:off x="685800" y="2860000"/>
            <a:ext cx="6593700" cy="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Alguma dúvida?</a:t>
            </a:r>
            <a:endParaRPr b="1" sz="3600"/>
          </a:p>
        </p:txBody>
      </p:sp>
      <p:sp>
        <p:nvSpPr>
          <p:cNvPr id="294" name="Google Shape;294;p31"/>
          <p:cNvSpPr/>
          <p:nvPr/>
        </p:nvSpPr>
        <p:spPr>
          <a:xfrm>
            <a:off x="8054234" y="327815"/>
            <a:ext cx="798007" cy="725835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T EEL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