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aleway ExtraBold"/>
      <p:bold r:id="rId29"/>
      <p:boldItalic r:id="rId30"/>
    </p:embeddedFont>
    <p:embeddedFont>
      <p:font typeface="Raleway Light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Extra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Light-regular.fntdata"/><Relationship Id="rId30" Type="http://schemas.openxmlformats.org/officeDocument/2006/relationships/font" Target="fonts/RalewayExtraBold-boldItalic.fntdata"/><Relationship Id="rId11" Type="http://schemas.openxmlformats.org/officeDocument/2006/relationships/slide" Target="slides/slide7.xml"/><Relationship Id="rId33" Type="http://schemas.openxmlformats.org/officeDocument/2006/relationships/font" Target="fonts/RalewayLight-italic.fntdata"/><Relationship Id="rId10" Type="http://schemas.openxmlformats.org/officeDocument/2006/relationships/slide" Target="slides/slide6.xml"/><Relationship Id="rId32" Type="http://schemas.openxmlformats.org/officeDocument/2006/relationships/font" Target="fonts/RalewayLight-bold.fntdata"/><Relationship Id="rId13" Type="http://schemas.openxmlformats.org/officeDocument/2006/relationships/slide" Target="slides/slide9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8.xml"/><Relationship Id="rId34" Type="http://schemas.openxmlformats.org/officeDocument/2006/relationships/font" Target="fonts/RalewayLight-boldItalic.fntdata"/><Relationship Id="rId15" Type="http://schemas.openxmlformats.org/officeDocument/2006/relationships/slide" Target="slides/slide11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10.xml"/><Relationship Id="rId36" Type="http://schemas.openxmlformats.org/officeDocument/2006/relationships/font" Target="fonts/RobotoMono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d95a22ec0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d95a22ec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6ac8f40ed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6ac8f40e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d95a22ec0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d95a22ec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6ac8f40ed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6ac8f40e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d95a22ec0_0_1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d95a22ec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d95a22ec0_0_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d95a22ec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d95a22ec0_0_1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d95a22ec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d95a22ec0_0_1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d95a22ec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d95a22ec0_0_1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2d95a22ec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d95a22ec0_0_1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2d95a22ec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d95a22ec0_0_1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2d95a22ec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d95a22ec0_0_1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2d95a22ec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d95a22ec0_0_1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d95a22ec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d95a22ec0_0_1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d95a22ec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d95a22ec0_0_1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2d95a22ec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d95a22ec0_0_2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2d95a22ec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FFB6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8863" y="379862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rgbClr val="FFB6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rgbClr val="FFB6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9100" lvl="0" marL="457200" rtl="0" algn="ctr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1pPr>
            <a:lvl2pPr indent="-419100" lvl="1" marL="9144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2pPr>
            <a:lvl3pPr indent="-419100" lvl="2" marL="13716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3pPr>
            <a:lvl4pPr indent="-419100" lvl="3" marL="18288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4pPr>
            <a:lvl5pPr indent="-419100" lvl="4" marL="22860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5pPr>
            <a:lvl6pPr indent="-419100" lvl="5" marL="2743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6pPr>
            <a:lvl7pPr indent="-419100" lvl="6" marL="32004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7pPr>
            <a:lvl8pPr indent="-419100" lvl="7" marL="36576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8pPr>
            <a:lvl9pPr indent="-419100" lvl="8" marL="41148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1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B600"/>
                </a:solidFill>
              </a:defRPr>
            </a:lvl1pPr>
            <a:lvl2pPr lvl="1">
              <a:buNone/>
              <a:defRPr>
                <a:solidFill>
                  <a:srgbClr val="FFB600"/>
                </a:solidFill>
              </a:defRPr>
            </a:lvl2pPr>
            <a:lvl3pPr lvl="2">
              <a:buNone/>
              <a:defRPr>
                <a:solidFill>
                  <a:srgbClr val="FFB600"/>
                </a:solidFill>
              </a:defRPr>
            </a:lvl3pPr>
            <a:lvl4pPr lvl="3">
              <a:buNone/>
              <a:defRPr>
                <a:solidFill>
                  <a:srgbClr val="FFB600"/>
                </a:solidFill>
              </a:defRPr>
            </a:lvl4pPr>
            <a:lvl5pPr lvl="4">
              <a:buNone/>
              <a:defRPr>
                <a:solidFill>
                  <a:srgbClr val="FFB600"/>
                </a:solidFill>
              </a:defRPr>
            </a:lvl5pPr>
            <a:lvl6pPr lvl="5">
              <a:buNone/>
              <a:defRPr>
                <a:solidFill>
                  <a:srgbClr val="FFB600"/>
                </a:solidFill>
              </a:defRPr>
            </a:lvl6pPr>
            <a:lvl7pPr lvl="6">
              <a:buNone/>
              <a:defRPr>
                <a:solidFill>
                  <a:srgbClr val="FFB600"/>
                </a:solidFill>
              </a:defRPr>
            </a:lvl7pPr>
            <a:lvl8pPr lvl="7">
              <a:buNone/>
              <a:defRPr>
                <a:solidFill>
                  <a:srgbClr val="FFB600"/>
                </a:solidFill>
              </a:defRPr>
            </a:lvl8pPr>
            <a:lvl9pPr lvl="8">
              <a:buNone/>
              <a:defRPr>
                <a:solidFill>
                  <a:srgbClr val="FFB6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922000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3373778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3" name="Google Shape;43;p7"/>
          <p:cNvSpPr txBox="1"/>
          <p:nvPr>
            <p:ph idx="3" type="body"/>
          </p:nvPr>
        </p:nvSpPr>
        <p:spPr>
          <a:xfrm>
            <a:off x="5825557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ed">
  <p:cSld name="BLANK_1">
    <p:bg>
      <p:bgPr>
        <a:solidFill>
          <a:srgbClr val="FFB6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blob/main/operador_aritimetico.c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Mr-Kraus/Mini-curso-de-C_Exercicios/blob/main/Lista%20de%20exercicios_3.pd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ctrTitle"/>
          </p:nvPr>
        </p:nvSpPr>
        <p:spPr>
          <a:xfrm>
            <a:off x="720100" y="1983600"/>
            <a:ext cx="7524300" cy="117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Minicurso de C </a:t>
            </a:r>
            <a:endParaRPr/>
          </a:p>
        </p:txBody>
      </p:sp>
      <p:sp>
        <p:nvSpPr>
          <p:cNvPr id="69" name="Google Shape;69;p12"/>
          <p:cNvSpPr txBox="1"/>
          <p:nvPr/>
        </p:nvSpPr>
        <p:spPr>
          <a:xfrm>
            <a:off x="720100" y="2968525"/>
            <a:ext cx="71202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dk2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Aula 03 - Estruturas   de repetição</a:t>
            </a:r>
            <a:endParaRPr sz="4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ctrTitle"/>
          </p:nvPr>
        </p:nvSpPr>
        <p:spPr>
          <a:xfrm>
            <a:off x="685800" y="3222950"/>
            <a:ext cx="68238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são estruturas de repetição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684475" y="646600"/>
            <a:ext cx="7533900" cy="37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As </a:t>
            </a:r>
            <a:r>
              <a:rPr b="1"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estruturas de repetição</a:t>
            </a: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são utilizadas para repetir algoritmos, de modo a evitar códigos muito grandes e confusos. São elas:</a:t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 while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goto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2" name="Google Shape;82;p14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83" name="Google Shape;83;p14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907300" y="70072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Sintaxe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1759875" y="1791950"/>
            <a:ext cx="6497700" cy="2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int i = 0;</a:t>
            </a:r>
            <a:endParaRPr b="1" sz="25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while (i &lt; 5) 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{ 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printf("%d\n", i); </a:t>
            </a:r>
            <a:endParaRPr b="1" sz="250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i++;</a:t>
            </a: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}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02" name="Google Shape;102;p16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13" name="Google Shape;113;p17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7"/>
          <p:cNvSpPr txBox="1"/>
          <p:nvPr>
            <p:ph type="title"/>
          </p:nvPr>
        </p:nvSpPr>
        <p:spPr>
          <a:xfrm>
            <a:off x="2043000" y="1372325"/>
            <a:ext cx="8487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16" name="Google Shape;116;p17">
            <a:hlinkClick r:id="rId3"/>
          </p:cNvPr>
          <p:cNvSpPr txBox="1"/>
          <p:nvPr/>
        </p:nvSpPr>
        <p:spPr>
          <a:xfrm>
            <a:off x="3042025" y="2942475"/>
            <a:ext cx="32772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4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ctrTitle"/>
          </p:nvPr>
        </p:nvSpPr>
        <p:spPr>
          <a:xfrm>
            <a:off x="685800" y="321586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While</a:t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3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877925" y="68602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Sintaxe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2498275" y="1750425"/>
            <a:ext cx="5660700" cy="25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int i = 0;</a:t>
            </a: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do </a:t>
            </a:r>
            <a:endParaRPr b="1" sz="25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{</a:t>
            </a: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printf("%d\n", i); </a:t>
            </a:r>
            <a:endParaRPr b="1" sz="2500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i++;</a:t>
            </a: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} </a:t>
            </a:r>
            <a:endParaRPr b="1" sz="25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B600"/>
                </a:solidFill>
                <a:latin typeface="Raleway"/>
                <a:ea typeface="Raleway"/>
                <a:cs typeface="Raleway"/>
                <a:sym typeface="Raleway"/>
              </a:rPr>
              <a:t>while (i &lt; 5);</a:t>
            </a:r>
            <a:endParaRPr b="1" sz="2500">
              <a:solidFill>
                <a:srgbClr val="FFB6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30" name="Google Shape;130;p19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31" name="Google Shape;131;p19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1" name="Google Shape;141;p20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42" name="Google Shape;142;p20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20"/>
          <p:cNvSpPr txBox="1"/>
          <p:nvPr>
            <p:ph type="title"/>
          </p:nvPr>
        </p:nvSpPr>
        <p:spPr>
          <a:xfrm>
            <a:off x="2043000" y="1328225"/>
            <a:ext cx="72765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45" name="Google Shape;145;p20">
            <a:hlinkClick r:id="rId3"/>
          </p:cNvPr>
          <p:cNvSpPr txBox="1"/>
          <p:nvPr/>
        </p:nvSpPr>
        <p:spPr>
          <a:xfrm>
            <a:off x="3402150" y="3015950"/>
            <a:ext cx="23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4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ctrTitle"/>
          </p:nvPr>
        </p:nvSpPr>
        <p:spPr>
          <a:xfrm>
            <a:off x="685800" y="321586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 </a:t>
            </a:r>
            <a:r>
              <a:rPr lang="en"/>
              <a:t>Break</a:t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4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607375" y="521750"/>
            <a:ext cx="49731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Sintaxe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2495625" y="1708650"/>
            <a:ext cx="3752100" cy="17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for</a:t>
            </a: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25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(int i = 0; i &lt; 10; i++)</a:t>
            </a: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{</a:t>
            </a:r>
            <a:endParaRPr b="1" sz="25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   </a:t>
            </a:r>
            <a:r>
              <a:rPr b="1" lang="en" sz="2500">
                <a:solidFill>
                  <a:srgbClr val="FFB600"/>
                </a:solidFill>
                <a:latin typeface="Raleway"/>
                <a:ea typeface="Raleway"/>
                <a:cs typeface="Raleway"/>
                <a:sym typeface="Raleway"/>
              </a:rPr>
              <a:t>if (i == 5)</a:t>
            </a: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break;</a:t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   </a:t>
            </a:r>
            <a:r>
              <a:rPr b="1" lang="en" sz="2500">
                <a:solidFill>
                  <a:srgbClr val="FFB600"/>
                </a:solidFill>
                <a:latin typeface="Raleway"/>
                <a:ea typeface="Raleway"/>
                <a:cs typeface="Raleway"/>
                <a:sym typeface="Raleway"/>
              </a:rPr>
              <a:t>printf("%d\n", i);</a:t>
            </a:r>
            <a:endParaRPr b="1" sz="2500">
              <a:solidFill>
                <a:srgbClr val="FFB6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}</a:t>
            </a:r>
            <a:endParaRPr b="1" sz="25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59" name="Google Shape;159;p22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60" name="Google Shape;160;p22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2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2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2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2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0" name="Google Shape;170;p23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71" name="Google Shape;171;p23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3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23"/>
          <p:cNvSpPr txBox="1"/>
          <p:nvPr>
            <p:ph type="title"/>
          </p:nvPr>
        </p:nvSpPr>
        <p:spPr>
          <a:xfrm>
            <a:off x="2043000" y="1313550"/>
            <a:ext cx="73635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74" name="Google Shape;174;p23">
            <a:hlinkClick r:id="rId3"/>
          </p:cNvPr>
          <p:cNvSpPr txBox="1"/>
          <p:nvPr/>
        </p:nvSpPr>
        <p:spPr>
          <a:xfrm>
            <a:off x="3429900" y="2748100"/>
            <a:ext cx="22842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4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ctrTitle"/>
          </p:nvPr>
        </p:nvSpPr>
        <p:spPr>
          <a:xfrm>
            <a:off x="685800" y="321586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Goto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703125" y="685875"/>
            <a:ext cx="44997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Sintaxe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86" name="Google Shape;186;p2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7" name="Google Shape;187;p25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88" name="Google Shape;188;p25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25"/>
          <p:cNvSpPr txBox="1"/>
          <p:nvPr/>
        </p:nvSpPr>
        <p:spPr>
          <a:xfrm>
            <a:off x="3418225" y="1440800"/>
            <a:ext cx="3159900" cy="24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B600"/>
                </a:solidFill>
                <a:latin typeface="Raleway"/>
                <a:ea typeface="Raleway"/>
                <a:cs typeface="Raleway"/>
                <a:sym typeface="Raleway"/>
              </a:rPr>
              <a:t>int i = 0; </a:t>
            </a:r>
            <a:endParaRPr b="1" sz="2500">
              <a:solidFill>
                <a:srgbClr val="FFB6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inicio: </a:t>
            </a:r>
            <a:endParaRPr b="1" sz="25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printf("%d\n", i); </a:t>
            </a:r>
            <a:endParaRPr b="1" sz="25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i++;</a:t>
            </a:r>
            <a:r>
              <a:rPr b="1" lang="en" sz="25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5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if (i &lt; 5) </a:t>
            </a:r>
            <a:endParaRPr b="1" sz="25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{</a:t>
            </a:r>
            <a:endParaRPr b="1" sz="25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goto inicio;</a:t>
            </a:r>
            <a:endParaRPr b="1" sz="25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}</a:t>
            </a:r>
            <a:endParaRPr b="1" sz="25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6" name="Google Shape;196;p26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97" name="Google Shape;197;p26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26"/>
          <p:cNvSpPr txBox="1"/>
          <p:nvPr>
            <p:ph type="title"/>
          </p:nvPr>
        </p:nvSpPr>
        <p:spPr>
          <a:xfrm>
            <a:off x="2043000" y="1254750"/>
            <a:ext cx="6898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200" name="Google Shape;200;p26">
            <a:hlinkClick r:id="rId3"/>
          </p:cNvPr>
          <p:cNvSpPr txBox="1"/>
          <p:nvPr/>
        </p:nvSpPr>
        <p:spPr>
          <a:xfrm>
            <a:off x="3328650" y="2751425"/>
            <a:ext cx="2486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4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ctrTitle"/>
          </p:nvPr>
        </p:nvSpPr>
        <p:spPr>
          <a:xfrm>
            <a:off x="685800" y="321586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Comparação das Estruturas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6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2" name="Google Shape;212;p28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13" name="Google Shape;213;p2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25" y="1367950"/>
            <a:ext cx="7969675" cy="25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1" name="Google Shape;221;p29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22" name="Google Shape;222;p29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" name="Google Shape;224;p29"/>
          <p:cNvSpPr txBox="1"/>
          <p:nvPr>
            <p:ph type="title"/>
          </p:nvPr>
        </p:nvSpPr>
        <p:spPr>
          <a:xfrm>
            <a:off x="2043000" y="1401700"/>
            <a:ext cx="6859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225" name="Google Shape;225;p29">
            <a:hlinkClick r:id="rId3"/>
          </p:cNvPr>
          <p:cNvSpPr txBox="1"/>
          <p:nvPr/>
        </p:nvSpPr>
        <p:spPr>
          <a:xfrm>
            <a:off x="3174275" y="2824900"/>
            <a:ext cx="2968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4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-134525" y="1110750"/>
            <a:ext cx="957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Lista de exercícios</a:t>
            </a:r>
            <a:r>
              <a:rPr lang="en"/>
              <a:t> </a:t>
            </a:r>
            <a:endParaRPr/>
          </a:p>
        </p:txBody>
      </p:sp>
      <p:sp>
        <p:nvSpPr>
          <p:cNvPr id="231" name="Google Shape;231;p3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3255300" y="2848525"/>
            <a:ext cx="263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ACESSE AQUI</a:t>
            </a:r>
            <a:endParaRPr b="1"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33" name="Google Shape;233;p30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34" name="Google Shape;234;p30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31"/>
          <p:cNvSpPr txBox="1"/>
          <p:nvPr>
            <p:ph idx="4294967295" type="ctrTitle"/>
          </p:nvPr>
        </p:nvSpPr>
        <p:spPr>
          <a:xfrm>
            <a:off x="685800" y="1507150"/>
            <a:ext cx="6593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B600"/>
                </a:solidFill>
              </a:rPr>
              <a:t>Obrigado</a:t>
            </a:r>
            <a:r>
              <a:rPr lang="en" sz="9600">
                <a:solidFill>
                  <a:srgbClr val="FFB600"/>
                </a:solidFill>
              </a:rPr>
              <a:t>!</a:t>
            </a:r>
            <a:endParaRPr sz="9600">
              <a:solidFill>
                <a:srgbClr val="FFB600"/>
              </a:solidFill>
            </a:endParaRPr>
          </a:p>
        </p:txBody>
      </p:sp>
      <p:sp>
        <p:nvSpPr>
          <p:cNvPr id="242" name="Google Shape;242;p31"/>
          <p:cNvSpPr txBox="1"/>
          <p:nvPr>
            <p:ph idx="4294967295" type="subTitle"/>
          </p:nvPr>
        </p:nvSpPr>
        <p:spPr>
          <a:xfrm>
            <a:off x="685800" y="2860000"/>
            <a:ext cx="6593700" cy="9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Alguma dúvida?</a:t>
            </a:r>
            <a:endParaRPr b="1" sz="3600"/>
          </a:p>
        </p:txBody>
      </p:sp>
      <p:sp>
        <p:nvSpPr>
          <p:cNvPr id="243" name="Google Shape;243;p31"/>
          <p:cNvSpPr/>
          <p:nvPr/>
        </p:nvSpPr>
        <p:spPr>
          <a:xfrm>
            <a:off x="8054234" y="327815"/>
            <a:ext cx="798007" cy="725835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T EEL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