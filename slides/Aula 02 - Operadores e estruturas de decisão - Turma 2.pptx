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5143500" cx="9144000"/>
  <p:notesSz cx="6858000" cy="9144000"/>
  <p:embeddedFontLst>
    <p:embeddedFont>
      <p:font typeface="Raleway"/>
      <p:regular r:id="rId43"/>
      <p:bold r:id="rId44"/>
      <p:italic r:id="rId45"/>
      <p:boldItalic r:id="rId46"/>
    </p:embeddedFont>
    <p:embeddedFont>
      <p:font typeface="Raleway ExtraBold"/>
      <p:bold r:id="rId47"/>
      <p:boldItalic r:id="rId48"/>
    </p:embeddedFont>
    <p:embeddedFont>
      <p:font typeface="Raleway Light"/>
      <p:regular r:id="rId49"/>
      <p:bold r:id="rId50"/>
      <p:italic r:id="rId51"/>
      <p:boldItalic r:id="rId52"/>
    </p:embeddedFont>
    <p:embeddedFont>
      <p:font typeface="Roboto Mon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Raleway-bold.fntdata"/><Relationship Id="rId43" Type="http://schemas.openxmlformats.org/officeDocument/2006/relationships/font" Target="fonts/Raleway-regular.fntdata"/><Relationship Id="rId46" Type="http://schemas.openxmlformats.org/officeDocument/2006/relationships/font" Target="fonts/Raleway-boldItalic.fntdata"/><Relationship Id="rId45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alewayExtraBold-boldItalic.fntdata"/><Relationship Id="rId47" Type="http://schemas.openxmlformats.org/officeDocument/2006/relationships/font" Target="fonts/RalewayExtraBold-bold.fntdata"/><Relationship Id="rId49" Type="http://schemas.openxmlformats.org/officeDocument/2006/relationships/font" Target="fonts/Raleway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alewayLight-italic.fntdata"/><Relationship Id="rId50" Type="http://schemas.openxmlformats.org/officeDocument/2006/relationships/font" Target="fonts/RalewayLight-bold.fntdata"/><Relationship Id="rId53" Type="http://schemas.openxmlformats.org/officeDocument/2006/relationships/font" Target="fonts/RobotoMono-regular.fntdata"/><Relationship Id="rId52" Type="http://schemas.openxmlformats.org/officeDocument/2006/relationships/font" Target="fonts/RalewayLight-boldItalic.fntdata"/><Relationship Id="rId11" Type="http://schemas.openxmlformats.org/officeDocument/2006/relationships/slide" Target="slides/slide7.xml"/><Relationship Id="rId55" Type="http://schemas.openxmlformats.org/officeDocument/2006/relationships/font" Target="fonts/RobotoMono-italic.fntdata"/><Relationship Id="rId10" Type="http://schemas.openxmlformats.org/officeDocument/2006/relationships/slide" Target="slides/slide6.xml"/><Relationship Id="rId54" Type="http://schemas.openxmlformats.org/officeDocument/2006/relationships/font" Target="fonts/RobotoMon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RobotoMon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6ac8f40ed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6ac8f40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f475ed2ce_0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f475ed2c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f475ed2ce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f475ed2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fd929aa84_0_1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fd929aa8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8b42c1436_0_9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d8b42c143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f475ed2ce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f475ed2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fd929aa84_0_1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fd929aa8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8b42c1436_0_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8b42c143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f475ed2ce_0_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0f475ed2c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0fd929aa84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0fd929aa8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8b42c1436_0_16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d8b42c143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f475ed2ce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0f475ed2c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fd929aa84_0_2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fd929aa8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d8b42c1436_0_1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d8b42c143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f475ed2ce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f475ed2c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0fd929aa84_0_22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0fd929aa84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d8b42c1436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d8b42c143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40c818715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40c8187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40c818715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40c8187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40c818715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40c81871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8b42c1436_0_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8b42c143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40c818715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140c81871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8b42c1436_0_1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8b42c143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40c818715_0_9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140c81871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d8b42c1436_0_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d8b42c143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140c818715_0_1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140c81871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0f22abb06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0f22abb0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d8b42c1436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d8b42c143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40f22abb06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40f22abb0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40c818715_0_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40c81871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140c818715_0_17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140c81871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08e0ca5f8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08e0ca5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40f22abb06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40f22abb0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140c818715_0_19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140c81871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FFB6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8863" y="379862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rgbClr val="FFB6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rgbClr val="FFB6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9100" lvl="0" marL="457200" rtl="0" algn="ctr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1pPr>
            <a:lvl2pPr indent="-419100" lvl="1" marL="9144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2pPr>
            <a:lvl3pPr indent="-419100" lvl="2" marL="13716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3pPr>
            <a:lvl4pPr indent="-419100" lvl="3" marL="18288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4pPr>
            <a:lvl5pPr indent="-419100" lvl="4" marL="22860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5pPr>
            <a:lvl6pPr indent="-419100" lvl="5" marL="2743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6pPr>
            <a:lvl7pPr indent="-419100" lvl="6" marL="32004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7pPr>
            <a:lvl8pPr indent="-419100" lvl="7" marL="36576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8pPr>
            <a:lvl9pPr indent="-419100" lvl="8" marL="41148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1200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B600"/>
                </a:solidFill>
              </a:defRPr>
            </a:lvl1pPr>
            <a:lvl2pPr lvl="1">
              <a:buNone/>
              <a:defRPr>
                <a:solidFill>
                  <a:srgbClr val="FFB600"/>
                </a:solidFill>
              </a:defRPr>
            </a:lvl2pPr>
            <a:lvl3pPr lvl="2">
              <a:buNone/>
              <a:defRPr>
                <a:solidFill>
                  <a:srgbClr val="FFB600"/>
                </a:solidFill>
              </a:defRPr>
            </a:lvl3pPr>
            <a:lvl4pPr lvl="3">
              <a:buNone/>
              <a:defRPr>
                <a:solidFill>
                  <a:srgbClr val="FFB600"/>
                </a:solidFill>
              </a:defRPr>
            </a:lvl4pPr>
            <a:lvl5pPr lvl="4">
              <a:buNone/>
              <a:defRPr>
                <a:solidFill>
                  <a:srgbClr val="FFB600"/>
                </a:solidFill>
              </a:defRPr>
            </a:lvl5pPr>
            <a:lvl6pPr lvl="5">
              <a:buNone/>
              <a:defRPr>
                <a:solidFill>
                  <a:srgbClr val="FFB600"/>
                </a:solidFill>
              </a:defRPr>
            </a:lvl6pPr>
            <a:lvl7pPr lvl="6">
              <a:buNone/>
              <a:defRPr>
                <a:solidFill>
                  <a:srgbClr val="FFB600"/>
                </a:solidFill>
              </a:defRPr>
            </a:lvl7pPr>
            <a:lvl8pPr lvl="7">
              <a:buNone/>
              <a:defRPr>
                <a:solidFill>
                  <a:srgbClr val="FFB600"/>
                </a:solidFill>
              </a:defRPr>
            </a:lvl8pPr>
            <a:lvl9pPr lvl="8">
              <a:buNone/>
              <a:defRPr>
                <a:solidFill>
                  <a:srgbClr val="FFB6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3" name="Google Shape;43;p7"/>
          <p:cNvSpPr txBox="1"/>
          <p:nvPr>
            <p:ph idx="3" type="body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ed">
  <p:cSld name="BLANK_1">
    <p:bg>
      <p:bgPr>
        <a:solidFill>
          <a:srgbClr val="FFB6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1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325" y="4849954"/>
            <a:ext cx="914401" cy="203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buNone/>
              <a:defRPr sz="1300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r-Kraus/Minicurso-de-C_Exemplos/blob/main/operador_aritimetico.c" TargetMode="External"/><Relationship Id="rId4" Type="http://schemas.openxmlformats.org/officeDocument/2006/relationships/hyperlink" Target="https://github.com/Mr-Kraus/Minicurso-de-C_Exemplos/tree/main/Aula_2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Mr-Kraus/Minicurso-de-C_Exemplos/tree/main/Aula_2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Mr-Kraus/Minicurso-de-C_Exemplos/tree/main/Aula_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tinkercad.com/things/h92OGRmaInY-avaliacao-sistemas-embarcados/editel?returnTo=https%3A%2F%2Fwww.tinkercad.com%2Fdashboard%2Fdesigns%2Fcircuits&amp;sharecode=ngDFhH_wkTpc9h-9RCeCtOuVGb64Zna1MX5_xPT4i2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Mr-Kraus/Minicurso-de-C_Exemplos/tree/main/Aula_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Mr-Kraus/Minicurso-de-C_Exemplos/tree/main/Aula_2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Mr-Kraus/Minicurso-de-C_Exemplos/tree/main/Aula_2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Mr-Kraus/Minicurso-de-C_Exemplos/tree/main/Aula_2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Mr-Kraus/Minicurso-de-C_Exemplos/tree/main/Aula_2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Minicurso de C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Aula 02 - Operadores e estruturas de decisão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ctrTitle"/>
          </p:nvPr>
        </p:nvSpPr>
        <p:spPr>
          <a:xfrm>
            <a:off x="685800" y="32229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operadores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0" name="Google Shape;80;p14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81" name="Google Shape;81;p14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4"/>
          <p:cNvSpPr txBox="1"/>
          <p:nvPr/>
        </p:nvSpPr>
        <p:spPr>
          <a:xfrm>
            <a:off x="769400" y="621900"/>
            <a:ext cx="6786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Em C temos operadores unários, binários e ternários. Clasificados como:</a:t>
            </a:r>
            <a:endParaRPr b="1"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69400" y="1543050"/>
            <a:ext cx="58125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Raleway Light"/>
              <a:buChar char="●"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Atribuição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Raleway Light"/>
              <a:buChar char="●"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Aritméticos;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Raleway Light"/>
              <a:buChar char="●"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Relacionais; 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Raleway Light"/>
              <a:buChar char="●"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Lógicos; 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Raleway Light"/>
              <a:buChar char="●"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Bit a bit;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Raleway Light"/>
              <a:buChar char="●"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Condicionais;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Raleway Light"/>
              <a:buChar char="●"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Operadores de Conversão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ctrTitle"/>
          </p:nvPr>
        </p:nvSpPr>
        <p:spPr>
          <a:xfrm>
            <a:off x="685800" y="3301000"/>
            <a:ext cx="8682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Operadores de Atribuição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9" name="Google Shape;99;p16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00" name="Google Shape;100;p16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/>
        </p:nvSpPr>
        <p:spPr>
          <a:xfrm>
            <a:off x="636800" y="648225"/>
            <a:ext cx="6786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Os operadores são:</a:t>
            </a:r>
            <a:r>
              <a:rPr lang="en" sz="180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 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725025" y="1778025"/>
            <a:ext cx="6333600" cy="25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000"/>
              <a:buChar char="●"/>
            </a:pPr>
            <a:r>
              <a:rPr b="1" lang="en" sz="30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atribuição simples</a:t>
            </a:r>
            <a:r>
              <a:rPr lang="en" sz="30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</a:t>
            </a:r>
            <a:endParaRPr sz="30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(=) </a:t>
            </a:r>
            <a:endParaRPr sz="30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000"/>
              <a:buChar char="●"/>
            </a:pPr>
            <a:r>
              <a:rPr b="1" lang="en" sz="30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atribuição com operador</a:t>
            </a:r>
            <a:r>
              <a:rPr lang="en" sz="30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</a:t>
            </a:r>
            <a:endParaRPr sz="30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+=, -=, *=, /=, %=, &amp;=, ^=, &lt;&lt;=, &gt;&gt;=. </a:t>
            </a:r>
            <a:endParaRPr sz="30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Operadores </a:t>
            </a:r>
            <a:r>
              <a:rPr lang="en"/>
              <a:t>Aritméticos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8" name="Google Shape;118;p18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19" name="Google Shape;119;p18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8"/>
          <p:cNvSpPr txBox="1"/>
          <p:nvPr/>
        </p:nvSpPr>
        <p:spPr>
          <a:xfrm>
            <a:off x="351700" y="478200"/>
            <a:ext cx="8792400" cy="4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Operador	Tipo	Descrição</a:t>
            </a:r>
            <a:endParaRPr b="1" sz="18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+		Binário	Soma dois operandos.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-		Binário	Subtrai o segundo operando do primeiro.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*		Binário	Multiplica dois operandos.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/		Binário	Divide o primeiro operando pelo segundo.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%		Binário	Retorna o resto da divisão.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++		Unário	Incrementa o operando em 1 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--		Unário	Decrementa o operando em 1 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+=		Binário	Incrementa o operando à esquerda pelo valor à direita.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-=		Binário	Decrementa o operando à esquerda pelo valor à direita.</a:t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0" name="Google Shape;130;p19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31" name="Google Shape;131;p19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9"/>
          <p:cNvSpPr txBox="1"/>
          <p:nvPr>
            <p:ph type="title"/>
          </p:nvPr>
        </p:nvSpPr>
        <p:spPr>
          <a:xfrm>
            <a:off x="2043000" y="1578050"/>
            <a:ext cx="6561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34" name="Google Shape;134;p19">
            <a:hlinkClick r:id="rId3"/>
          </p:cNvPr>
          <p:cNvSpPr txBox="1"/>
          <p:nvPr/>
        </p:nvSpPr>
        <p:spPr>
          <a:xfrm>
            <a:off x="3262425" y="2824900"/>
            <a:ext cx="24249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4"/>
              </a:rPr>
              <a:t>ACESSE AQUI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Operadores </a:t>
            </a:r>
            <a:r>
              <a:rPr lang="en"/>
              <a:t>Relacionais</a:t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47" name="Google Shape;147;p21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21"/>
          <p:cNvSpPr txBox="1"/>
          <p:nvPr/>
        </p:nvSpPr>
        <p:spPr>
          <a:xfrm>
            <a:off x="2263150" y="1780575"/>
            <a:ext cx="4350000" cy="29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Operador		Descrição</a:t>
            </a:r>
            <a:endParaRPr b="1"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==			Igual a</a:t>
            </a:r>
            <a:endParaRPr sz="22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!=			Diferente de</a:t>
            </a:r>
            <a:endParaRPr sz="22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&gt;			Maior que</a:t>
            </a:r>
            <a:endParaRPr sz="22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&lt;			Menor que</a:t>
            </a:r>
            <a:endParaRPr sz="22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&gt;=			Maior ou igual a</a:t>
            </a:r>
            <a:endParaRPr sz="22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&lt;=			Menor ou igual a</a:t>
            </a:r>
            <a:endParaRPr sz="22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822950" y="705400"/>
            <a:ext cx="70833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Os </a:t>
            </a: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operadores relacionais</a:t>
            </a: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realizam a comparação entre dois valores ou objetos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9" name="Google Shape;159;p22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60" name="Google Shape;160;p22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22"/>
          <p:cNvSpPr txBox="1"/>
          <p:nvPr>
            <p:ph type="title"/>
          </p:nvPr>
        </p:nvSpPr>
        <p:spPr>
          <a:xfrm>
            <a:off x="2043000" y="1533975"/>
            <a:ext cx="6561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3283050" y="2854300"/>
            <a:ext cx="25779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3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Operadores </a:t>
            </a:r>
            <a:r>
              <a:rPr lang="en"/>
              <a:t>Lógicos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5" name="Google Shape;175;p24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176" name="Google Shape;176;p24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4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4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4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4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24"/>
          <p:cNvSpPr txBox="1"/>
          <p:nvPr/>
        </p:nvSpPr>
        <p:spPr>
          <a:xfrm>
            <a:off x="723750" y="725500"/>
            <a:ext cx="6786300" cy="16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Os </a:t>
            </a: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operadores lógicos</a:t>
            </a: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são usados para combinar expressões booleanas. O resultado de uma expressão lógica é </a:t>
            </a: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true </a:t>
            </a: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ou </a:t>
            </a: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false</a:t>
            </a: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, dependendo das condições.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1895750" y="2788250"/>
            <a:ext cx="4937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Operador		Descrição</a:t>
            </a:r>
            <a:endParaRPr b="1"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    &amp;&amp;	      		E lógico (AND)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      ||		      OU lógico (or)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      !		      NÃO lógico (NOT)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8" name="Google Shape;188;p25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189" name="Google Shape;189;p25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" name="Google Shape;191;p25"/>
          <p:cNvSpPr txBox="1"/>
          <p:nvPr>
            <p:ph type="title"/>
          </p:nvPr>
        </p:nvSpPr>
        <p:spPr>
          <a:xfrm>
            <a:off x="2043000" y="1563350"/>
            <a:ext cx="66564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3315600" y="3007950"/>
            <a:ext cx="25128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3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Operadores bit a bit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6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4" name="Google Shape;204;p27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05" name="Google Shape;205;p27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27"/>
          <p:cNvSpPr txBox="1"/>
          <p:nvPr/>
        </p:nvSpPr>
        <p:spPr>
          <a:xfrm>
            <a:off x="650475" y="1003900"/>
            <a:ext cx="6786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1728300" y="2035200"/>
            <a:ext cx="5687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Operador	     	Descrição</a:t>
            </a:r>
            <a:endParaRPr b="1"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     &amp;			E bit a bit (AND)</a:t>
            </a:r>
            <a:endParaRPr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     |            		OU bit a bit (OR)</a:t>
            </a:r>
            <a:endParaRPr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     ^			OU exclusivo bit a bit (XOR)</a:t>
            </a:r>
            <a:endParaRPr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     ~			NÃO bit a bit (NOT)</a:t>
            </a:r>
            <a:endParaRPr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    </a:t>
            </a: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&lt;&lt;</a:t>
            </a: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			Deslocamento à esquerda</a:t>
            </a:r>
            <a:endParaRPr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    &gt;&gt;			Deslocamento à direita</a:t>
            </a:r>
            <a:endParaRPr sz="22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953925" y="705950"/>
            <a:ext cx="66090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Os </a:t>
            </a: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operadores bit a bit</a:t>
            </a: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trabalham diretamente sobre os bits de seus operandos, realizando operações lógicas bit a bit.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8" name="Google Shape;218;p28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19" name="Google Shape;219;p2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28"/>
          <p:cNvSpPr txBox="1"/>
          <p:nvPr>
            <p:ph type="title"/>
          </p:nvPr>
        </p:nvSpPr>
        <p:spPr>
          <a:xfrm>
            <a:off x="1111200" y="1269450"/>
            <a:ext cx="6921600" cy="16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aplicado a microcontroladores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1654950" y="3218350"/>
            <a:ext cx="58341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ACESSE AQUI</a:t>
            </a:r>
            <a:endParaRPr b="1"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Operador Condicional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7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4" name="Google Shape;234;p30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35" name="Google Shape;235;p30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30"/>
          <p:cNvSpPr txBox="1"/>
          <p:nvPr/>
        </p:nvSpPr>
        <p:spPr>
          <a:xfrm>
            <a:off x="621425" y="915750"/>
            <a:ext cx="75717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O </a:t>
            </a: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operador condicional ou ternário</a:t>
            </a: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é usado para decidir entre dois valores com base em uma condição. É o único operador ternário em C, ou seja, opera com três operandos.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41" name="Google Shape;241;p30"/>
          <p:cNvSpPr txBox="1"/>
          <p:nvPr/>
        </p:nvSpPr>
        <p:spPr>
          <a:xfrm>
            <a:off x="1763475" y="2866950"/>
            <a:ext cx="598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Operador				Descrição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      ? :			(teste ? verdadeiro : falso)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7" name="Google Shape;247;p31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48" name="Google Shape;248;p31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31"/>
          <p:cNvSpPr txBox="1"/>
          <p:nvPr>
            <p:ph type="title"/>
          </p:nvPr>
        </p:nvSpPr>
        <p:spPr>
          <a:xfrm>
            <a:off x="2043000" y="1622150"/>
            <a:ext cx="68598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3269850" y="2971875"/>
            <a:ext cx="26043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3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Estruturas de decisão</a:t>
            </a:r>
            <a:endParaRPr/>
          </a:p>
        </p:txBody>
      </p:sp>
      <p:sp>
        <p:nvSpPr>
          <p:cNvPr id="257" name="Google Shape;257;p32"/>
          <p:cNvSpPr txBox="1"/>
          <p:nvPr/>
        </p:nvSpPr>
        <p:spPr>
          <a:xfrm>
            <a:off x="7469025" y="0"/>
            <a:ext cx="18162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8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3" name="Google Shape;263;p33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64" name="Google Shape;264;p33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3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3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33"/>
          <p:cNvSpPr txBox="1"/>
          <p:nvPr/>
        </p:nvSpPr>
        <p:spPr>
          <a:xfrm>
            <a:off x="650475" y="1003900"/>
            <a:ext cx="6786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650475" y="719100"/>
            <a:ext cx="74823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Estruturas de decisão</a:t>
            </a:r>
            <a:r>
              <a:rPr lang="en" sz="24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possibilitam controlar o fluxo do programa com base em condições lógicas.</a:t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738650" y="1854100"/>
            <a:ext cx="39963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Principais estruturas:</a:t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endParaRPr sz="2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endParaRPr sz="2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else if</a:t>
            </a:r>
            <a:endParaRPr sz="2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switch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case</a:t>
            </a:r>
            <a:endParaRPr sz="2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8125" y="1798125"/>
            <a:ext cx="3603614" cy="272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78" name="Google Shape;278;p34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279" name="Google Shape;279;p34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4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4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p34"/>
          <p:cNvSpPr txBox="1"/>
          <p:nvPr/>
        </p:nvSpPr>
        <p:spPr>
          <a:xfrm>
            <a:off x="627150" y="2075075"/>
            <a:ext cx="78897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Descrição:</a:t>
            </a: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Executa um bloco de código se uma condição for verdadeira.</a:t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Uso:</a:t>
            </a: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Ideal para verificar condições únicas.</a:t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85" name="Google Shape;285;p34"/>
          <p:cNvSpPr txBox="1"/>
          <p:nvPr>
            <p:ph idx="4294967295" type="ctrTitle"/>
          </p:nvPr>
        </p:nvSpPr>
        <p:spPr>
          <a:xfrm>
            <a:off x="2860750" y="738925"/>
            <a:ext cx="32085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1" name="Google Shape;291;p35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292" name="Google Shape;292;p35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5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35"/>
          <p:cNvSpPr txBox="1"/>
          <p:nvPr>
            <p:ph type="title"/>
          </p:nvPr>
        </p:nvSpPr>
        <p:spPr>
          <a:xfrm>
            <a:off x="2043000" y="1666250"/>
            <a:ext cx="6561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3388650" y="2882675"/>
            <a:ext cx="2366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3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1" name="Google Shape;301;p36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302" name="Google Shape;302;p36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6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6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6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36"/>
          <p:cNvSpPr txBox="1"/>
          <p:nvPr/>
        </p:nvSpPr>
        <p:spPr>
          <a:xfrm>
            <a:off x="720100" y="1983925"/>
            <a:ext cx="74844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Descrição: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Fornece um bloco de código alternativo se a condição do </a:t>
            </a:r>
            <a:r>
              <a:rPr b="1"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if 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falsa.</a:t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Uso: 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Útil para manipular condições opostas.</a:t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08" name="Google Shape;308;p36"/>
          <p:cNvSpPr txBox="1"/>
          <p:nvPr/>
        </p:nvSpPr>
        <p:spPr>
          <a:xfrm>
            <a:off x="3823950" y="3018700"/>
            <a:ext cx="149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6"/>
          <p:cNvSpPr txBox="1"/>
          <p:nvPr>
            <p:ph idx="4294967295" type="ctrTitle"/>
          </p:nvPr>
        </p:nvSpPr>
        <p:spPr>
          <a:xfrm>
            <a:off x="685800" y="729242"/>
            <a:ext cx="7772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5" name="Google Shape;315;p37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316" name="Google Shape;316;p37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37"/>
          <p:cNvSpPr txBox="1"/>
          <p:nvPr>
            <p:ph type="title"/>
          </p:nvPr>
        </p:nvSpPr>
        <p:spPr>
          <a:xfrm>
            <a:off x="2043000" y="1357625"/>
            <a:ext cx="65016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3115500" y="3060050"/>
            <a:ext cx="26892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3"/>
              </a:rPr>
              <a:t>ACESSE AQUI</a:t>
            </a:r>
            <a:endParaRPr b="1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5" name="Google Shape;325;p38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326" name="Google Shape;326;p38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8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8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8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8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8"/>
          <p:cNvSpPr txBox="1"/>
          <p:nvPr/>
        </p:nvSpPr>
        <p:spPr>
          <a:xfrm>
            <a:off x="650475" y="1003900"/>
            <a:ext cx="6786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32" name="Google Shape;332;p38"/>
          <p:cNvSpPr txBox="1"/>
          <p:nvPr/>
        </p:nvSpPr>
        <p:spPr>
          <a:xfrm>
            <a:off x="505775" y="2202250"/>
            <a:ext cx="7889700" cy="20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Descrição: </a:t>
            </a: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Permite testar múltiplas condições sequencialmente.</a:t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Uso:</a:t>
            </a:r>
            <a:r>
              <a:rPr lang="en" sz="24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 Para situações onde mais de uma condição precisa ser verificada.</a:t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33" name="Google Shape;333;p38"/>
          <p:cNvSpPr txBox="1"/>
          <p:nvPr/>
        </p:nvSpPr>
        <p:spPr>
          <a:xfrm>
            <a:off x="3823950" y="3018700"/>
            <a:ext cx="149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8"/>
          <p:cNvSpPr txBox="1"/>
          <p:nvPr>
            <p:ph idx="4294967295" type="ctrTitle"/>
          </p:nvPr>
        </p:nvSpPr>
        <p:spPr>
          <a:xfrm>
            <a:off x="685800" y="900717"/>
            <a:ext cx="7772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else if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40" name="Google Shape;340;p39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341" name="Google Shape;341;p39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9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39"/>
          <p:cNvSpPr txBox="1"/>
          <p:nvPr>
            <p:ph type="title"/>
          </p:nvPr>
        </p:nvSpPr>
        <p:spPr>
          <a:xfrm>
            <a:off x="2043000" y="1592750"/>
            <a:ext cx="68502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3208950" y="2917175"/>
            <a:ext cx="27261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ACESSE AQUI</a:t>
            </a:r>
            <a:endParaRPr b="1" sz="24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0" name="Google Shape;350;p40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351" name="Google Shape;351;p40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0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0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40"/>
          <p:cNvSpPr txBox="1"/>
          <p:nvPr/>
        </p:nvSpPr>
        <p:spPr>
          <a:xfrm>
            <a:off x="650475" y="1003900"/>
            <a:ext cx="6786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685800" y="2066675"/>
            <a:ext cx="7889700" cy="21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Descrição: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Seleciona entre diferentes blocos de código com base no valor de uma variável.</a:t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Uso:</a:t>
            </a:r>
            <a:r>
              <a:rPr lang="en" sz="2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Ideal para simplificar decisões baseadas em valores fixos, como menus ou estados.</a:t>
            </a:r>
            <a:endParaRPr sz="2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8" name="Google Shape;358;p40"/>
          <p:cNvSpPr txBox="1"/>
          <p:nvPr/>
        </p:nvSpPr>
        <p:spPr>
          <a:xfrm>
            <a:off x="3823950" y="3018700"/>
            <a:ext cx="149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0"/>
          <p:cNvSpPr txBox="1"/>
          <p:nvPr>
            <p:ph idx="4294967295" type="ctrTitle"/>
          </p:nvPr>
        </p:nvSpPr>
        <p:spPr>
          <a:xfrm>
            <a:off x="685800" y="680292"/>
            <a:ext cx="7772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case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5" name="Google Shape;365;p41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366" name="Google Shape;366;p41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1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1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1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41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41"/>
          <p:cNvSpPr txBox="1"/>
          <p:nvPr/>
        </p:nvSpPr>
        <p:spPr>
          <a:xfrm>
            <a:off x="650475" y="1003900"/>
            <a:ext cx="67863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72" name="Google Shape;372;p41"/>
          <p:cNvSpPr txBox="1"/>
          <p:nvPr/>
        </p:nvSpPr>
        <p:spPr>
          <a:xfrm>
            <a:off x="3823950" y="3018700"/>
            <a:ext cx="149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1"/>
          <p:cNvSpPr txBox="1"/>
          <p:nvPr/>
        </p:nvSpPr>
        <p:spPr>
          <a:xfrm>
            <a:off x="685800" y="1825400"/>
            <a:ext cx="7953900" cy="2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switch</a:t>
            </a: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: inicializa a estrutura e recebe a variável;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case</a:t>
            </a:r>
            <a:r>
              <a:rPr lang="en"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Blocos de código para cada possível valor da variável;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break</a:t>
            </a:r>
            <a:r>
              <a:rPr lang="en"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22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Evita que o programa execute os próximos</a:t>
            </a:r>
            <a:r>
              <a:rPr lang="en"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2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case</a:t>
            </a:r>
            <a:r>
              <a:rPr lang="en"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;</a:t>
            </a:r>
            <a:endParaRPr sz="2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default</a:t>
            </a:r>
            <a:r>
              <a:rPr lang="en"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Executa se nenhum</a:t>
            </a:r>
            <a:r>
              <a:rPr lang="en"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2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case</a:t>
            </a:r>
            <a:r>
              <a:rPr lang="en" sz="2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corresponder ao valor;</a:t>
            </a:r>
            <a:endParaRPr sz="2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74" name="Google Shape;374;p41"/>
          <p:cNvSpPr txBox="1"/>
          <p:nvPr>
            <p:ph idx="4294967295" type="ctrTitle"/>
          </p:nvPr>
        </p:nvSpPr>
        <p:spPr>
          <a:xfrm>
            <a:off x="685800" y="665592"/>
            <a:ext cx="77724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 case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0" name="Google Shape;380;p42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381" name="Google Shape;381;p42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2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3" name="Google Shape;383;p42"/>
          <p:cNvSpPr txBox="1"/>
          <p:nvPr>
            <p:ph type="title"/>
          </p:nvPr>
        </p:nvSpPr>
        <p:spPr>
          <a:xfrm>
            <a:off x="2043000" y="1401700"/>
            <a:ext cx="66081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Exemplo prático</a:t>
            </a:r>
            <a:endParaRPr sz="4800">
              <a:solidFill>
                <a:srgbClr val="FFB600"/>
              </a:solidFill>
            </a:endParaRPr>
          </a:p>
        </p:txBody>
      </p:sp>
      <p:sp>
        <p:nvSpPr>
          <p:cNvPr id="384" name="Google Shape;384;p42"/>
          <p:cNvSpPr txBox="1"/>
          <p:nvPr/>
        </p:nvSpPr>
        <p:spPr>
          <a:xfrm>
            <a:off x="3370500" y="2929800"/>
            <a:ext cx="2403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linkClick r:id="rId3"/>
              </a:rPr>
              <a:t>ACESSE AQUI</a:t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3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Resumo geral</a:t>
            </a:r>
            <a:endParaRPr/>
          </a:p>
        </p:txBody>
      </p:sp>
      <p:sp>
        <p:nvSpPr>
          <p:cNvPr id="390" name="Google Shape;390;p43"/>
          <p:cNvSpPr txBox="1"/>
          <p:nvPr/>
        </p:nvSpPr>
        <p:spPr>
          <a:xfrm>
            <a:off x="7469025" y="0"/>
            <a:ext cx="18162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9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44"/>
          <p:cNvSpPr txBox="1"/>
          <p:nvPr/>
        </p:nvSpPr>
        <p:spPr>
          <a:xfrm>
            <a:off x="435425" y="571525"/>
            <a:ext cx="4245300" cy="4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Operadores de Atribuição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Descrição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Atribuem valores às variáveis.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Principais Operadores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+=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-=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*=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/=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%=</a:t>
            </a:r>
            <a:endParaRPr sz="12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Operadores Aritméticos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Descrição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Realizam operações matemáticas básicas.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Principais Operadores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+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(adição),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(subtração),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*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(multiplicação),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/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(divisão),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%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(módulo)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Operadores Relacionais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Descrição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Comparam dois valores e retornam verdadeiro ou falso.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Principais Operadores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==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(igual),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!=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(diferente),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&lt;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(menor que),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&gt;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(maior que),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&lt;=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(menor ou igual),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&gt;=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(maior ou igual)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397" name="Google Shape;397;p44"/>
          <p:cNvSpPr txBox="1"/>
          <p:nvPr/>
        </p:nvSpPr>
        <p:spPr>
          <a:xfrm>
            <a:off x="4789600" y="571525"/>
            <a:ext cx="3742200" cy="3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Operadores Lógicos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Descrição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Combinam expressões booleanas.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Principais Operadores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&amp;&amp;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(E lógico),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||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(OU lógico),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!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(NÃO lógico)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Operadores Bit a Bit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Descrição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Operam diretamente sobre os bits de variáveis inteiras.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Principais Operadores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&amp;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(AND),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|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(OR),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^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(XOR),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~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(NOT),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&lt;&lt;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(deslocamento à esquerda),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&gt;&gt;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(deslocamento à direita)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Operador Condicional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Descrição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Operador ternário que substitui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if-else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simples.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Operador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" sz="12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?:</a:t>
            </a:r>
            <a:endParaRPr sz="1200">
              <a:solidFill>
                <a:srgbClr val="188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398" name="Google Shape;398;p44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399" name="Google Shape;399;p44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4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4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4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4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45"/>
          <p:cNvSpPr txBox="1"/>
          <p:nvPr/>
        </p:nvSpPr>
        <p:spPr>
          <a:xfrm>
            <a:off x="745150" y="1045050"/>
            <a:ext cx="7440300" cy="28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Estruturas de decisão: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if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Verifica uma condição específica.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else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Executa uma alternativa se o </a:t>
            </a:r>
            <a:r>
              <a:rPr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if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for falso.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else if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Verifica múltiplas condições sequencialmente.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switch-case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Escolhe uma opção entre várias, útil para valores fixos.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Dicas</a:t>
            </a:r>
            <a:r>
              <a:rPr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 </a:t>
            </a:r>
            <a:r>
              <a:rPr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if-else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para condições variáveis e complexas.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 </a:t>
            </a:r>
            <a:r>
              <a:rPr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switch-case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para simplificar verificações de valores específicos.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410" name="Google Shape;410;p45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411" name="Google Shape;411;p45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5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5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5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5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6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46"/>
          <p:cNvSpPr txBox="1"/>
          <p:nvPr/>
        </p:nvSpPr>
        <p:spPr>
          <a:xfrm>
            <a:off x="745150" y="1045050"/>
            <a:ext cx="7440300" cy="28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Estruturas de decisão: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if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Verifica uma condição específica.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else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Executa uma alternativa se o </a:t>
            </a:r>
            <a:r>
              <a:rPr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if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for falso.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else if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Verifica múltiplas condições sequencialmente.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switch-case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Escolhe uma opção entre várias, útil para valores fixos.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Dicas</a:t>
            </a:r>
            <a:r>
              <a:rPr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 </a:t>
            </a:r>
            <a:r>
              <a:rPr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if-else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para condições variáveis e complexas.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 </a:t>
            </a:r>
            <a:r>
              <a:rPr lang="en" sz="1600">
                <a:solidFill>
                  <a:srgbClr val="188038"/>
                </a:solidFill>
                <a:latin typeface="Raleway"/>
                <a:ea typeface="Raleway"/>
                <a:cs typeface="Raleway"/>
                <a:sym typeface="Raleway"/>
              </a:rPr>
              <a:t>switch-case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para simplificar verificações de valores específicos.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422" name="Google Shape;422;p46"/>
          <p:cNvGrpSpPr/>
          <p:nvPr/>
        </p:nvGrpSpPr>
        <p:grpSpPr>
          <a:xfrm>
            <a:off x="8119638" y="225980"/>
            <a:ext cx="539546" cy="879605"/>
            <a:chOff x="6730350" y="2315900"/>
            <a:chExt cx="257700" cy="420100"/>
          </a:xfrm>
        </p:grpSpPr>
        <p:sp>
          <p:nvSpPr>
            <p:cNvPr id="423" name="Google Shape;423;p46"/>
            <p:cNvSpPr/>
            <p:nvPr/>
          </p:nvSpPr>
          <p:spPr>
            <a:xfrm>
              <a:off x="6807900" y="26712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6807900" y="2636450"/>
              <a:ext cx="102600" cy="22625"/>
            </a:xfrm>
            <a:custGeom>
              <a:rect b="b" l="l" r="r" t="t"/>
              <a:pathLst>
                <a:path extrusionOk="0" h="905" w="4104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6807900" y="2706075"/>
              <a:ext cx="102600" cy="29925"/>
            </a:xfrm>
            <a:custGeom>
              <a:rect b="b" l="l" r="r" t="t"/>
              <a:pathLst>
                <a:path extrusionOk="0" h="1197" w="4104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6811575" y="2463675"/>
              <a:ext cx="95275" cy="160600"/>
            </a:xfrm>
            <a:custGeom>
              <a:rect b="b" l="l" r="r" t="t"/>
              <a:pathLst>
                <a:path extrusionOk="0" h="6424" w="3811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6730350" y="2315900"/>
              <a:ext cx="257700" cy="308375"/>
            </a:xfrm>
            <a:custGeom>
              <a:rect b="b" l="l" r="r" t="t"/>
              <a:pathLst>
                <a:path extrusionOk="0" h="12335" w="10308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7"/>
          <p:cNvSpPr txBox="1"/>
          <p:nvPr>
            <p:ph type="ctrTitle"/>
          </p:nvPr>
        </p:nvSpPr>
        <p:spPr>
          <a:xfrm>
            <a:off x="685800" y="330099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Tarefa</a:t>
            </a:r>
            <a:endParaRPr/>
          </a:p>
        </p:txBody>
      </p:sp>
      <p:sp>
        <p:nvSpPr>
          <p:cNvPr id="433" name="Google Shape;433;p47"/>
          <p:cNvSpPr txBox="1"/>
          <p:nvPr/>
        </p:nvSpPr>
        <p:spPr>
          <a:xfrm>
            <a:off x="7469025" y="0"/>
            <a:ext cx="18162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10</a:t>
            </a:r>
            <a:endParaRPr sz="960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48"/>
          <p:cNvSpPr txBox="1"/>
          <p:nvPr/>
        </p:nvSpPr>
        <p:spPr>
          <a:xfrm>
            <a:off x="686875" y="778875"/>
            <a:ext cx="7616100" cy="3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Faça um programa em C de uma calculadora que realiza as quatro operações básicas: adição, subtração, multiplicação e divisão.</a:t>
            </a:r>
            <a:endParaRPr b="1" sz="2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Obs: </a:t>
            </a:r>
            <a:r>
              <a:rPr lang="en" sz="23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Você pode utilizar a estrutura </a:t>
            </a:r>
            <a:r>
              <a:rPr b="1" lang="en" sz="2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switch case</a:t>
            </a:r>
            <a:r>
              <a:rPr lang="en" sz="23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para cada uma das operações;</a:t>
            </a:r>
            <a:endParaRPr sz="23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Obs: </a:t>
            </a:r>
            <a:r>
              <a:rPr lang="en" sz="23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Você pode utilizar a estrutura </a:t>
            </a:r>
            <a:r>
              <a:rPr b="1" lang="en" sz="23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if else</a:t>
            </a:r>
            <a:r>
              <a:rPr lang="en" sz="23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para evitar a divisão por zero</a:t>
            </a:r>
            <a:r>
              <a:rPr lang="en" sz="23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 </a:t>
            </a:r>
            <a:endParaRPr sz="23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440" name="Google Shape;440;p48"/>
          <p:cNvGrpSpPr/>
          <p:nvPr/>
        </p:nvGrpSpPr>
        <p:grpSpPr>
          <a:xfrm>
            <a:off x="7964730" y="329098"/>
            <a:ext cx="977040" cy="722851"/>
            <a:chOff x="5255200" y="3006475"/>
            <a:chExt cx="511700" cy="378575"/>
          </a:xfrm>
        </p:grpSpPr>
        <p:sp>
          <p:nvSpPr>
            <p:cNvPr id="441" name="Google Shape;441;p48"/>
            <p:cNvSpPr/>
            <p:nvPr/>
          </p:nvSpPr>
          <p:spPr>
            <a:xfrm>
              <a:off x="5255200" y="3006475"/>
              <a:ext cx="349900" cy="349875"/>
            </a:xfrm>
            <a:custGeom>
              <a:rect b="b" l="l" r="r" t="t"/>
              <a:pathLst>
                <a:path extrusionOk="0" h="13995" w="13996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8"/>
            <p:cNvSpPr/>
            <p:nvPr/>
          </p:nvSpPr>
          <p:spPr>
            <a:xfrm>
              <a:off x="5567825" y="3185975"/>
              <a:ext cx="199075" cy="199075"/>
            </a:xfrm>
            <a:custGeom>
              <a:rect b="b" l="l" r="r" t="t"/>
              <a:pathLst>
                <a:path extrusionOk="0" h="7963" w="7963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49"/>
          <p:cNvSpPr txBox="1"/>
          <p:nvPr>
            <p:ph idx="4294967295" type="ctrTitle"/>
          </p:nvPr>
        </p:nvSpPr>
        <p:spPr>
          <a:xfrm>
            <a:off x="685800" y="1507150"/>
            <a:ext cx="6593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B600"/>
                </a:solidFill>
              </a:rPr>
              <a:t>Obrigado</a:t>
            </a:r>
            <a:r>
              <a:rPr lang="en" sz="9600">
                <a:solidFill>
                  <a:srgbClr val="FFB600"/>
                </a:solidFill>
              </a:rPr>
              <a:t>!</a:t>
            </a:r>
            <a:endParaRPr sz="9600">
              <a:solidFill>
                <a:srgbClr val="FFB600"/>
              </a:solidFill>
            </a:endParaRPr>
          </a:p>
        </p:txBody>
      </p:sp>
      <p:sp>
        <p:nvSpPr>
          <p:cNvPr id="449" name="Google Shape;449;p49"/>
          <p:cNvSpPr txBox="1"/>
          <p:nvPr>
            <p:ph idx="4294967295" type="subTitle"/>
          </p:nvPr>
        </p:nvSpPr>
        <p:spPr>
          <a:xfrm>
            <a:off x="685800" y="2860000"/>
            <a:ext cx="6593700" cy="9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Alguma dúvida?</a:t>
            </a:r>
            <a:endParaRPr b="1" sz="3600"/>
          </a:p>
        </p:txBody>
      </p:sp>
      <p:sp>
        <p:nvSpPr>
          <p:cNvPr id="450" name="Google Shape;450;p49"/>
          <p:cNvSpPr/>
          <p:nvPr/>
        </p:nvSpPr>
        <p:spPr>
          <a:xfrm>
            <a:off x="8054234" y="327815"/>
            <a:ext cx="798007" cy="725835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T EEL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